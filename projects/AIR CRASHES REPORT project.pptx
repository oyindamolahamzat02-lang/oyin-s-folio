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zat oyindamola" userId="08a1d0c32bb262cc" providerId="LiveId" clId="{F9149ED0-9EB3-437A-9DE9-1B90D3F6256B}"/>
    <pc:docChg chg="undo custSel addSld delSld modSld">
      <pc:chgData name="hamzat oyindamola" userId="08a1d0c32bb262cc" providerId="LiveId" clId="{F9149ED0-9EB3-437A-9DE9-1B90D3F6256B}" dt="2026-05-21T19:30:17.887" v="189"/>
      <pc:docMkLst>
        <pc:docMk/>
      </pc:docMkLst>
      <pc:sldChg chg="modTransition">
        <pc:chgData name="hamzat oyindamola" userId="08a1d0c32bb262cc" providerId="LiveId" clId="{F9149ED0-9EB3-437A-9DE9-1B90D3F6256B}" dt="2026-05-21T19:29:45.284" v="169"/>
        <pc:sldMkLst>
          <pc:docMk/>
          <pc:sldMk cId="1636817009" sldId="256"/>
        </pc:sldMkLst>
      </pc:sldChg>
      <pc:sldChg chg="modSp modTransition">
        <pc:chgData name="hamzat oyindamola" userId="08a1d0c32bb262cc" providerId="LiveId" clId="{F9149ED0-9EB3-437A-9DE9-1B90D3F6256B}" dt="2026-05-21T19:29:51.978" v="173"/>
        <pc:sldMkLst>
          <pc:docMk/>
          <pc:sldMk cId="2508464233" sldId="257"/>
        </pc:sldMkLst>
        <pc:spChg chg="mod">
          <ac:chgData name="hamzat oyindamola" userId="08a1d0c32bb262cc" providerId="LiveId" clId="{F9149ED0-9EB3-437A-9DE9-1B90D3F6256B}" dt="2026-05-21T19:17:26.843" v="89" actId="20577"/>
          <ac:spMkLst>
            <pc:docMk/>
            <pc:sldMk cId="2508464233" sldId="257"/>
            <ac:spMk id="6" creationId="{3764887B-DD9A-4F17-8248-B2B23244DB69}"/>
          </ac:spMkLst>
        </pc:spChg>
      </pc:sldChg>
      <pc:sldChg chg="modSp modTransition">
        <pc:chgData name="hamzat oyindamola" userId="08a1d0c32bb262cc" providerId="LiveId" clId="{F9149ED0-9EB3-437A-9DE9-1B90D3F6256B}" dt="2026-05-21T19:30:00.032" v="177"/>
        <pc:sldMkLst>
          <pc:docMk/>
          <pc:sldMk cId="1309876306" sldId="258"/>
        </pc:sldMkLst>
        <pc:spChg chg="mod">
          <ac:chgData name="hamzat oyindamola" userId="08a1d0c32bb262cc" providerId="LiveId" clId="{F9149ED0-9EB3-437A-9DE9-1B90D3F6256B}" dt="2026-05-21T19:20:48.073" v="96" actId="1076"/>
          <ac:spMkLst>
            <pc:docMk/>
            <pc:sldMk cId="1309876306" sldId="258"/>
            <ac:spMk id="4" creationId="{0E94C8F9-8DF1-4ADB-8011-36BB07EDB712}"/>
          </ac:spMkLst>
        </pc:spChg>
      </pc:sldChg>
      <pc:sldChg chg="modSp modTransition">
        <pc:chgData name="hamzat oyindamola" userId="08a1d0c32bb262cc" providerId="LiveId" clId="{F9149ED0-9EB3-437A-9DE9-1B90D3F6256B}" dt="2026-05-21T19:30:06.672" v="181"/>
        <pc:sldMkLst>
          <pc:docMk/>
          <pc:sldMk cId="3164782971" sldId="259"/>
        </pc:sldMkLst>
        <pc:spChg chg="mod">
          <ac:chgData name="hamzat oyindamola" userId="08a1d0c32bb262cc" providerId="LiveId" clId="{F9149ED0-9EB3-437A-9DE9-1B90D3F6256B}" dt="2026-05-21T19:21:34.118" v="101" actId="1076"/>
          <ac:spMkLst>
            <pc:docMk/>
            <pc:sldMk cId="3164782971" sldId="259"/>
            <ac:spMk id="3" creationId="{F8A1A94C-3812-4D2D-A0A1-B43C83D7D816}"/>
          </ac:spMkLst>
        </pc:spChg>
      </pc:sldChg>
      <pc:sldChg chg="modSp modTransition">
        <pc:chgData name="hamzat oyindamola" userId="08a1d0c32bb262cc" providerId="LiveId" clId="{F9149ED0-9EB3-437A-9DE9-1B90D3F6256B}" dt="2026-05-21T19:30:11.822" v="185"/>
        <pc:sldMkLst>
          <pc:docMk/>
          <pc:sldMk cId="1642761016" sldId="260"/>
        </pc:sldMkLst>
        <pc:spChg chg="mod">
          <ac:chgData name="hamzat oyindamola" userId="08a1d0c32bb262cc" providerId="LiveId" clId="{F9149ED0-9EB3-437A-9DE9-1B90D3F6256B}" dt="2026-05-21T19:12:35.088" v="44" actId="207"/>
          <ac:spMkLst>
            <pc:docMk/>
            <pc:sldMk cId="1642761016" sldId="260"/>
            <ac:spMk id="2" creationId="{CF79A0EA-34BF-4549-B9F2-8E0500653AAA}"/>
          </ac:spMkLst>
        </pc:spChg>
      </pc:sldChg>
      <pc:sldChg chg="new add del">
        <pc:chgData name="hamzat oyindamola" userId="08a1d0c32bb262cc" providerId="LiveId" clId="{F9149ED0-9EB3-437A-9DE9-1B90D3F6256B}" dt="2026-05-21T19:10:27.401" v="5" actId="47"/>
        <pc:sldMkLst>
          <pc:docMk/>
          <pc:sldMk cId="606002485" sldId="261"/>
        </pc:sldMkLst>
      </pc:sldChg>
      <pc:sldChg chg="delSp modSp new add modTransition">
        <pc:chgData name="hamzat oyindamola" userId="08a1d0c32bb262cc" providerId="LiveId" clId="{F9149ED0-9EB3-437A-9DE9-1B90D3F6256B}" dt="2026-05-21T19:30:17.887" v="189"/>
        <pc:sldMkLst>
          <pc:docMk/>
          <pc:sldMk cId="2399880878" sldId="261"/>
        </pc:sldMkLst>
        <pc:spChg chg="mod">
          <ac:chgData name="hamzat oyindamola" userId="08a1d0c32bb262cc" providerId="LiveId" clId="{F9149ED0-9EB3-437A-9DE9-1B90D3F6256B}" dt="2026-05-21T19:12:17.016" v="43" actId="1076"/>
          <ac:spMkLst>
            <pc:docMk/>
            <pc:sldMk cId="2399880878" sldId="261"/>
            <ac:spMk id="2" creationId="{908C164A-047B-4A12-82F4-4E08B80FCE9B}"/>
          </ac:spMkLst>
        </pc:spChg>
        <pc:spChg chg="del mod">
          <ac:chgData name="hamzat oyindamola" userId="08a1d0c32bb262cc" providerId="LiveId" clId="{F9149ED0-9EB3-437A-9DE9-1B90D3F6256B}" dt="2026-05-21T19:11:55.809" v="39" actId="478"/>
          <ac:spMkLst>
            <pc:docMk/>
            <pc:sldMk cId="2399880878" sldId="261"/>
            <ac:spMk id="3" creationId="{BAD94CFE-77BD-4A40-B4E5-C3799BB73E66}"/>
          </ac:spMkLst>
        </pc:spChg>
      </pc:sldChg>
      <pc:sldChg chg="addSp delSp modSp del">
        <pc:chgData name="hamzat oyindamola" userId="08a1d0c32bb262cc" providerId="LiveId" clId="{F9149ED0-9EB3-437A-9DE9-1B90D3F6256B}" dt="2026-05-21T19:10:09.459" v="2" actId="47"/>
        <pc:sldMkLst>
          <pc:docMk/>
          <pc:sldMk cId="2952459275" sldId="261"/>
        </pc:sldMkLst>
        <pc:spChg chg="mod">
          <ac:chgData name="hamzat oyindamola" userId="08a1d0c32bb262cc" providerId="LiveId" clId="{F9149ED0-9EB3-437A-9DE9-1B90D3F6256B}" dt="2026-05-21T19:10:02.749" v="1" actId="6549"/>
          <ac:spMkLst>
            <pc:docMk/>
            <pc:sldMk cId="2952459275" sldId="261"/>
            <ac:spMk id="2" creationId="{397D289A-F04B-418D-85E6-A1D847327D0A}"/>
          </ac:spMkLst>
        </pc:spChg>
        <pc:spChg chg="del">
          <ac:chgData name="hamzat oyindamola" userId="08a1d0c32bb262cc" providerId="LiveId" clId="{F9149ED0-9EB3-437A-9DE9-1B90D3F6256B}" dt="2026-05-21T19:09:53.359" v="0"/>
          <ac:spMkLst>
            <pc:docMk/>
            <pc:sldMk cId="2952459275" sldId="261"/>
            <ac:spMk id="3" creationId="{EEEC9875-E893-47C8-A810-929CE70B58E5}"/>
          </ac:spMkLst>
        </pc:spChg>
        <pc:spChg chg="add del mod">
          <ac:chgData name="hamzat oyindamola" userId="08a1d0c32bb262cc" providerId="LiveId" clId="{F9149ED0-9EB3-437A-9DE9-1B90D3F6256B}" dt="2026-05-21T19:09:53.359" v="0"/>
          <ac:spMkLst>
            <pc:docMk/>
            <pc:sldMk cId="2952459275" sldId="261"/>
            <ac:spMk id="4" creationId="{4C733DB5-4BB1-4395-8859-84C9A0C7133B}"/>
          </ac:spMkLst>
        </pc:spChg>
        <pc:spChg chg="add mod">
          <ac:chgData name="hamzat oyindamola" userId="08a1d0c32bb262cc" providerId="LiveId" clId="{F9149ED0-9EB3-437A-9DE9-1B90D3F6256B}" dt="2026-05-21T19:09:53.359" v="0"/>
          <ac:spMkLst>
            <pc:docMk/>
            <pc:sldMk cId="2952459275" sldId="261"/>
            <ac:spMk id="5" creationId="{BF02DD49-4693-43E9-ACE3-5F6D7C1E53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6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43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3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9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8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08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0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2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1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9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24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0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83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64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19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40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33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355C5A2-6DEB-4EF9-8FA5-A1DBE049ED8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27C816-3325-40F6-86E8-CF77990A6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5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C5BC-165F-4F08-B91B-41DAEB8F0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0" y="245534"/>
            <a:ext cx="8574622" cy="261619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</a:rPr>
              <a:t>AIR </a:t>
            </a:r>
            <a:r>
              <a:rPr lang="en-US" sz="4800" dirty="0">
                <a:solidFill>
                  <a:schemeClr val="accent1">
                    <a:lumMod val="50000"/>
                  </a:schemeClr>
                </a:solidFill>
              </a:rPr>
              <a:t>CRASHES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FB8B4-8305-461A-BF4D-CBC0809CC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488" y="2861733"/>
            <a:ext cx="7405024" cy="1537510"/>
          </a:xfrm>
        </p:spPr>
        <p:txBody>
          <a:bodyPr/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HAMZAT TOHEEBAT OYINDAMOLA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8170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5000">
        <p15:prstTrans prst="curtains"/>
        <p:sndAc>
          <p:stSnd>
            <p:snd r:embed="rId2" name="chimes.wav"/>
          </p:stSnd>
        </p:sndAc>
      </p:transition>
    </mc:Choice>
    <mc:Fallback>
      <p:transition advTm="5000">
        <p:fade/>
        <p:sndAc>
          <p:stSnd>
            <p:snd r:embed="rId2" name="chimes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667A-7F11-4653-86DB-686E3D31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763" y="-321068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RESEARCH QUESTIONS(10)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64887B-DD9A-4F17-8248-B2B23244D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6620" y="2476072"/>
            <a:ext cx="9010436" cy="278429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1. Fatalities by year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pPr marL="0" indent="0"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have air fatalities changed over time?			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2. Fatalities by aircraft manufacturer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					</a:t>
            </a:r>
          </a:p>
          <a:p>
            <a:pPr marL="0" indent="0"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aircraft manufacturers have recorded the highest fatalities?	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3. Ground fatalities by region/country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pPr marL="0" indent="0">
              <a:buNone/>
            </a:pP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 Question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Which region/country have the highest ground fatalities?		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4. Ground fatalities by year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have ground fatalities changed over time?								</a:t>
            </a:r>
          </a:p>
          <a:p>
            <a:pPr marL="0" indent="0">
              <a:buNone/>
            </a:pP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5. Fatalities by operator	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operators or airlines have the most fatalities?								</a:t>
            </a:r>
          </a:p>
          <a:p>
            <a:pPr marL="0" indent="0">
              <a:buNone/>
            </a:pP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6. Fatalities by region/country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pPr marL="0" indent="0">
              <a:buNone/>
            </a:pP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or regions have the highest number of air fatalities?	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7. Fatalities vs aboard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between the number of people aboard and fatalities?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8. Fatalities by location 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pPr marL="0" indent="0">
              <a:buNone/>
            </a:pP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specific locations have recorded the highest fatalities?							</a:t>
            </a:r>
          </a:p>
          <a:p>
            <a:pPr marL="0" indent="0">
              <a:buNone/>
            </a:pP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9. Fatalities by quarter  	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None/>
            </a:pPr>
            <a:r>
              <a:rPr lang="en-US" sz="5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quarter of the year records the most air fatalities?			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10. Fatalities by aircraft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pPr marL="0" indent="0">
              <a:buNone/>
            </a:pPr>
            <a:r>
              <a:rPr lang="en-US" sz="5600" b="1" dirty="0">
                <a:latin typeface="+mj-lt"/>
                <a:cs typeface="Times New Roman" panose="02020603050405020304" pitchFamily="18" charset="0"/>
              </a:rPr>
              <a:t>Question: </a:t>
            </a: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aircraft have recorded the highest number of air fatalities?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464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0330-E8C5-4525-80B5-1B9835AB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391" y="0"/>
            <a:ext cx="10135761" cy="105053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ANALYSIS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94C8F9-8DF1-4ADB-8011-36BB07EDB7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1434" y="1239634"/>
            <a:ext cx="10690566" cy="408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1. Data Preparation</a:t>
            </a:r>
            <a:endParaRPr lang="en-US" altLang="en-US" sz="1600" dirty="0">
              <a:latin typeface="+mj-lt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dataset into Excel and cleaned missing or inconsistent entries.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column headers: Year, Quarter, Month, Day, Aircraft Manufacturer, Aircraft, Ground, Fatalities (air), Aboard, Operator, Location, Country/Region.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latin typeface="+mj-lt"/>
                <a:cs typeface="Times New Roman" panose="02020603050405020304" pitchFamily="18" charset="0"/>
              </a:rPr>
              <a:t>2. Pivot Table Creation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Pivot Tables for each research question to summarize fatalities by relevant categories.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“Sum of Fatalities (air)” and “Sum of Ground” as value fields.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3. Chart Visualization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Inserted bar, column, and line charts to visualize trends and comparisons.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filters and slicers for Year, Country/Region, and Operator to make the dashboard interactive.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dirty="0">
                <a:latin typeface="Arial Black" panose="020B0A04020102020204" pitchFamily="34" charset="0"/>
                <a:cs typeface="Times New Roman" panose="02020603050405020304" pitchFamily="18" charset="0"/>
              </a:rPr>
              <a:t>4. Dashboard Design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KPIs (Total Fatalities, Number of Countries/Regions) with charts.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consistent color themes and clear titles for readability.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876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6E49-8A03-4049-87B3-8791F395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868" y="1946134"/>
            <a:ext cx="3932237" cy="16002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1A94C-3812-4D2D-A0A1-B43C83D7D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1987" y="976046"/>
            <a:ext cx="8270696" cy="5352834"/>
          </a:xfrm>
        </p:spPr>
        <p:txBody>
          <a:bodyPr>
            <a:normAutofit/>
          </a:bodyPr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Aircraft Manufacturer: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Boeing and Douglas recorded the highest fatalities, indicating their large operational scale and historical crash frequency.</a:t>
            </a:r>
          </a:p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Operator: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and national airlines had higher fatality counts compared to private operators.</a:t>
            </a:r>
          </a:p>
          <a:p>
            <a:r>
              <a:rPr lang="en-US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Region/Country: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showed the highest ground and air fatalities.</a:t>
            </a:r>
          </a:p>
          <a:p>
            <a:r>
              <a:rPr lang="en-US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Fatalities vs Aboard: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correlation exists — higher passenger counts often lead to higher fatalities.</a:t>
            </a:r>
          </a:p>
          <a:p>
            <a:r>
              <a:rPr lang="en-US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Location: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 like Tripoli, Tenerife, and Tehran appeared among top fatal crash sites.</a:t>
            </a:r>
          </a:p>
        </p:txBody>
      </p:sp>
    </p:spTree>
    <p:extLst>
      <p:ext uri="{BB962C8B-B14F-4D97-AF65-F5344CB8AC3E}">
        <p14:creationId xmlns:p14="http://schemas.microsoft.com/office/powerpoint/2010/main" val="3164782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A0EA-34BF-4549-B9F2-8E0500653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03" y="30823"/>
            <a:ext cx="10018713" cy="129454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CONCLUSIONS/RECOMMENDATIONS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B7B70-B6EB-41A3-B9F6-FE127C5F8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843" y="1643866"/>
            <a:ext cx="10474809" cy="4058292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  <a:cs typeface="Times New Roman" panose="02020603050405020304" pitchFamily="18" charset="0"/>
              </a:rPr>
              <a:t>Safety Improvements: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Manufacturers and operators should enhance aircraft maintenance and pilot training, especially for high‑risk models.</a:t>
            </a:r>
          </a:p>
          <a:p>
            <a:r>
              <a:rPr lang="en-US" dirty="0">
                <a:latin typeface="+mj-lt"/>
                <a:cs typeface="Times New Roman" panose="02020603050405020304" pitchFamily="18" charset="0"/>
              </a:rPr>
              <a:t>Regional Focus: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high fatality rates should strengthen aviation safety oversight and emergency response systems.</a:t>
            </a:r>
          </a:p>
          <a:p>
            <a:r>
              <a:rPr lang="en-US" dirty="0">
                <a:latin typeface="Arial Black" panose="020B0A04020102020204" pitchFamily="34" charset="0"/>
                <a:cs typeface="Times New Roman" panose="02020603050405020304" pitchFamily="18" charset="0"/>
              </a:rPr>
              <a:t>Data Monitoring: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collection and analysis will help identify emerging patterns and prevent future incidents.</a:t>
            </a:r>
          </a:p>
          <a:p>
            <a:r>
              <a:rPr lang="en-US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Public Transparency: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safety records openly can build trust and encourage accountability across the aviation industry.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761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164A-047B-4A12-82F4-4E08B80F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2984" y="1869897"/>
            <a:ext cx="9284099" cy="183907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1">
                    <a:lumMod val="50000"/>
                  </a:schemeClr>
                </a:solidFill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399880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338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Times New Roman</vt:lpstr>
      <vt:lpstr>Parallax</vt:lpstr>
      <vt:lpstr>AIR CRASHES REPORT</vt:lpstr>
      <vt:lpstr>RESEARCH QUESTIONS(10)</vt:lpstr>
      <vt:lpstr>ANALYSIS STEPS</vt:lpstr>
      <vt:lpstr>FINDINGS</vt:lpstr>
      <vt:lpstr>CONCLUSIONS/RECOMMENDATIONS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CRASHES REPORT</dc:title>
  <dc:creator>hamzat oyindamola</dc:creator>
  <cp:lastModifiedBy>hamzat oyindamola</cp:lastModifiedBy>
  <cp:revision>9</cp:revision>
  <dcterms:created xsi:type="dcterms:W3CDTF">2026-05-21T17:58:53Z</dcterms:created>
  <dcterms:modified xsi:type="dcterms:W3CDTF">2026-05-21T19:31:07Z</dcterms:modified>
</cp:coreProperties>
</file>